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4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15 — 반사실 추론 I: 동기와 반사실 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51560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책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Causal Artificial Intelligence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범위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PDF 251–265쪽 (인쇄 239–253) · 5.1절 Motivation &amp; Recap, 5.2절 Counterfactual Quantities (5.2.1 ETT 시작부)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수준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입문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 범위가 푸는 문제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같은 개체를 서로 다른 개입 아래에서 비교하는 질문(L3)이 평균 효과(L2)와 근본적으로 다른 이유는?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결론 한 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반사실 양은 모두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"어떤 유닛 u를 고르고(사실 증거 E), 어떤 메커니즘으로 평가하나(조건 C)"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의 조합 P[Y_C ∣ E]이다. 같은 SCM에서도 층마다 답이 뒤집힐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읽고 나면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예 5.1의 세 층 답을 표에서 직접 계산하고, 구조적 기저 전개(Thm 5.2.1)와 3단계 절차로 반사실을 풀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3·7·14에서 이어받은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3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인과 사다리의 3층(L3 반사실)은 개체 수준의 "만약 ~했다면"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7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사실(factual)과 반사실(counterfactual)을 대비하는 SCM의 평가 규칙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14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고정된 do(x)를 넘어 조건에 따라 달라지는 정책 개입도 L2 안에서 다룸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오늘의 질문: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같은 개체를 서로 다른 개입 아래 비교하는 질문이 L2와 근본적으로 다른 이유는?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왜 필요한가 — 평균으로는 답할 수 없는 질문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책의 질문들 (5.1절)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"백신을 2주 일찍 시작했다면 사망률은?", "택시 대신 지하철을 탔다면 제시간에 도착했을까?"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L2의 한계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무작위 실험은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평균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효과 P(Y_x)를 준다. 이미 일어난 사실과 모순되는 가정, 책임·기여도, 개인별 결정에는 부족하다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L3가 주는 것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사실 증거(E)를 유지한 채 다른 조건(C)을 가정한 결과. 평균이 맞아도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개인·집단별 결론은 정반대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일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다루는 순서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예 5.1~5.3(동기) → 5.2절의 통일된 형식 P[Y_C∣E] → ETT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용어 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05740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96388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용어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한 줄 뜻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예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유닛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숨은 요인 U의 한 값. 한 개체(또는 개체 유형)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예 5.1의 u=0…7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잠재 반응 Y_x(u)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유닛 u가 do(X=x)를 받았을 때의 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Table 5.2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사실 증거 E · 반사실 조건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실제로 관측된 사건 / 가정하는 개입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C(E,C,Y)=P[Y_C∣E]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TV · TE · z-TE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관측 차이 / 전체 효과 / 특성 z별 효과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표 5.4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ETT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원래 X=x′를 고른 사람들에게 do(X=x)였다면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식 5.54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반사실 3단계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관측해 U 추정 → 메커니즘 수정 → 계산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식 5.50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예 5.1: 숨은 모집단은 8가지 유닛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MD 대 AI 의사 (Hinton의 역설), 식 5.1–5.3과 Table 5.2</a:t>
            </a:r>
          </a:p>
        </p:txBody>
      </p:sp>
      <p:pic>
        <p:nvPicPr>
          <p:cNvPr id="5" name="Picture 4" descr="d15_b_un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247" y="1737360"/>
            <a:ext cx="79872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세 층의 답이 엇갈린다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같은 SCM에서 계산한 L1 · L2 · L3 값 (식 5.6, 5.9–5.12, 5.18)</a:t>
            </a:r>
          </a:p>
        </p:txBody>
      </p:sp>
      <p:pic>
        <p:nvPicPr>
          <p:cNvPr id="5" name="Picture 4" descr="d15_a_rever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907" y="1737360"/>
            <a:ext cx="880788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이 역설이 말하는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Remark 1 (L1 대 L2)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P(Y∣X)로 학습한 분류기는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수동적 예측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에만 맞다. 숨은 교란이 섞여 있어 정책 근거로 쓰면 해롭다 (AI 전면 배정 0.89 &lt; MD 0.94)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Remark 2 (L2 대 L3)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무작위 실험(L2)도 평균일 뿐. 환자가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고르려던 쪽의 반대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를 주면 더 낫다 (식 5.19–5.20)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Remark 3 (L3 내부)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PN 같은 개체 수준 양도 ETT와 다른 이야기를 한다. L3 양은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모두 같지 않고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서로 관계를 따져야 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교훈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사람의 (틀릴 수 있는) 직관과 기계 능력을 합치면 더 나은 결정이 나온다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반사실 양은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물리 실험으로 얻을 수 없다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. 죽은 사람을 다른 치료로 되돌릴 수 없기 때문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2 — L2 질문과 L3 질문의 차이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그림 5.1 (5.1절): 유닛을 몇 번, 어떤 세계에서 평가하나</a:t>
            </a:r>
          </a:p>
        </p:txBody>
      </p:sp>
      <p:pic>
        <p:nvPicPr>
          <p:cNvPr id="5" name="Picture 4" descr="d15_e_wor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648" y="1737360"/>
            <a:ext cx="7440399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2 — 비유로 이해하기: 게임 세이브 파일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세이브 파일을 불러와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한 가지 선택만 바꿔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다시 플레이한다. L2는 새 캐릭터를 무작위로 뽑아 다른 설정으로 플레이시키는 것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대응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세이브 파일 = 유닛 u · 게임 규칙 = 메커니즘 F · 바꾼 선택 = do(X=x) · 처음 플레이 기록 = 사실 증거 E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핵심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L3는 같은 u를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두 세계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에 통과시켜 (X, Y_x)를 짝짓는다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비유의 한계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현실에서는 세이브 파일(U)이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보이지 않고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, 관측 E로 추정해야 한다. 또 책은 개입 전에 정해진 변수 Z는 Z(u)=Z_x(u)로 변하지 않는다고 본다 (그림 5.1과 각주 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3 — 모든 양을 한 형식으로: C(E, C, Y) = P[Y_C ∣ E]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두 단계 생성 과정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(그림 5.3): ① 유닛 u를 P(U) (또는 P(U∣E))에서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뽑는다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② 메커니즘 F_exec를 인과 순서로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평가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E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사실 증거(어떤 유닛을 고르나) ·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C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반사실 조건(어떤 메커니즘으로 평가하나)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양 극단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 = {} 이면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사실적(L1)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예 P(Y∣X=x)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E = {} 이면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주변, do 형태(L2)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예 P(Y_x)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그 사이의 조합이 L3. E와 C의 변수가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서로 어긋날 때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(E에서 X=1, C에서 x=0) 가장 흥미로운 질문이 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— 구조적 기저 전개 (Thm 5.2.1, 식 5.49)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171311935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626317"/>
            <a:ext cx="7772400" cy="9536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P(u∣E=e)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사실 증거에 맞는 유닛만 가중해서 </a:t>
            </a: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뽑는 단계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(책의 파란 인자)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1[Y_C(u)=y]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그 유닛에 개입 C를 적용해 </a:t>
            </a: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평가하는 단계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. 결과가 y이면 1 (책의 빨간 인자)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읽는 법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"증거와 맞는 유닛들 중, 개입 C 아래 Y=y가 되는 유닛의 비율"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확인: E={} 이면 Σ 1[Y_x(u)=y]P(u) = TE (식 5.52), C={}이면 TV (식 5.51)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책은 이 식이 의미 이해용이며 SCM을 모르므로 </a:t>
            </a: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직접 계산에는 못 쓴다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고 밝힌다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4 — 반사실 3단계: 예 5.2의 Alice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식 5.34–5.46: 교육이 경력에 영향을 주는 SCM</a:t>
            </a:r>
          </a:p>
        </p:txBody>
      </p:sp>
      <p:pic>
        <p:nvPicPr>
          <p:cNvPr id="5" name="Picture 4" descr="d15_c_al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514" y="1737360"/>
            <a:ext cx="847666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5 — 대표적인 양들의 지도 (표 5.4, 그림 5.4)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15_d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574" y="1097280"/>
            <a:ext cx="794654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6 — ETT: 이미 고른 사람에게는? (5.2.1절, 식 5.54–5.57)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1aaa262857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738426"/>
            <a:ext cx="7772400" cy="7293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분자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Y는 do(X=x) 세계, X는 자연 세계에 산다. </a:t>
            </a: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두 세계의 변수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가 한 식에 있는 것이 L3의 본질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TE와 비교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메커니즘(F_x)은 같고 </a:t>
            </a: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유닛 선택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만 다르다. TE는 P(U), ETT는 P(U∣X=x′)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대비형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ETT_{x1−x0,x′} = ETT_{x1,x′} − ETT_{x0,x′} (식 5.57)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일관성(consistency)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x=x′이면 X=x → Y_x=Y (식 5.65). 위 예 5.1의 0.90이 L1과 같은 이유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6 — 예 5.3 일자리 재교육: 평균 효과와 자원자의 효과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74320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25780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양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값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의미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52578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P(Y_{x=1}=1) − P(Y_{x=0}=1)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25/40 − 23/40 = +0.05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파일럿 실험: 효과 있음 (식 5.62)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P(Y=1∣X=1)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2/3 ≈ 0.67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자원자의 취업률은 더 높음 (식 5.63)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2578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P(Y_{x=1}=1∣X=1) − P(Y_{x=0}=1∣X=1)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2/3 − 2/3 =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자원자에 대한 ETT 대비 (식 5.64)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식 5.58–5.65. 아래 수치는 책의 모델에서 </a:t>
            </a:r>
            <a:r>
              <a:rPr sz="13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직접 계산</a:t>
            </a: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(책 범위 밖 결론 포함)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책은 "자원자에게 정말 도움이 되나?"라는 비판을 ETT로 형식화하고 PDF 265쪽에서 끊긴다. 위 ETT=0은 </a:t>
            </a:r>
            <a:r>
              <a:rPr sz="13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내가 모델로 계산</a:t>
            </a: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한 값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즉 평균 효과가 양수여도 자원자에게는 효과가 없을 수 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흔한 오해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64240" cy="2011680"/>
          </a:xfrm>
          <a:prstGeom prst="rect">
            <a:avLst/>
          </a:prstGeom>
          <a:noFill/>
        </p:spPr>
        <p:txBody>
          <a:bodyPr wrap="square" anchor="ctr" lIns="457200" rIns="457200" tIns="274320" bIns="274320">
            <a:spAutoFit/>
          </a:bodyPr>
          <a:lstStyle/>
          <a:p>
            <a:pPr algn="l"/>
            <a:r>
              <a:rPr sz="2400" i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❌ "P(Y∣X=1)가 더 높은 치료가 더 좋은 치료다"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640" y="2788920"/>
            <a:ext cx="60000" cy="201168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✅ 그것은 환자가 스스로 고른 결과(L1)일 뿐. 예 5.1에서는 AI가 0.90 대 0.80으로 높아 보여도 do 아래서는 0.89 대 0.94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"무작위 실험(L2)의 평균 효과를 알면 개인·집단별 효과도 안다" → ✅ ETT는 TE와 유닛 선택이 달라 부호까지 다를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"회귀식에서 교육을 바꾸면 연봉이 계산된다" → ✅ 교육이 경력도 바꾼다. Alice: 85,000이 아니라 76,000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"반사실은 실험으로 측정할 수 있다" → ✅ 같은 개체를 두 번 처리할 수 없다 (책 5.1절)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"반사실은 아무 상상이나 해도 된다" → ✅ 사실 증거 E로 U를 좁히고 같은 u를 유지한다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형식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모든 양은 C(E,C,Y)=P[Y_C∣E] = 유닛 선택(E) + 메커니즘 선택(C)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구조적 기저 전개(Thm 5.2.1)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사실에 맞는 u를 뽑고, 개입 아래에서 평가. 3단계(관측→수정→계산)로도 읽을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L2와 L3의 차이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한 세계에서 평균 평가 대 같은 u를 여러 세계에서 평가해 짝짓기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ETT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TE와 같은 메커니즘, 다른 유닛. 예 5.1·5.3에서 결론이 갈린다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다음 날(Day 16): 반사실 질의를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그래프 위의 객체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로 번역 — 반사실 변수의 조상(Def 5.2.1)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(개념 확인)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TE = P(Y_x)와 ETT = P(Y_x∣X=x′)의 차이는?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서로 다른 메커니즘(F 대 F_x)을 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같은 메커니즘 F_x를 쓰되 평가할 유닛 선택이 P(U) 대 P(U∣X=x′)로 다르다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ETT는 관측 데이터로만 정의되는 L1 양이다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둘은 항상 같은 값이다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Q1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B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책의 구조적 기저 전개에서 두 양은 빨간 인자(메커니즘)가 같고 파란 인자(유닛 선택)만 다르다 (5.2.1절)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A가 틀린 이유: 둘 다 do(X=x)의 F_x를 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ETT에는 do 세계의 변수 Y_x가 들어 있어 L1이 아니다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예 5.1에서 TE 차이는 −0.05, X=1 집단의 ETT 차이는 −0.08, X=0 집단은 +0.05로 서로 다르다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(적용)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예 5.2 모델에서 Alice는 ED=0, EX=6, S=81,000이다 (U_ex=−4, U_s=1,000). Alice가 대학(ED=1)에 갔다면 연봉 S_{ED=1}은?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85,000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76,000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86,000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70,000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Q2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B (76,000)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ED=1이면 EX = 10−4(1)+(−4) = 2. S = 65,000 + 2,500(2) + 5,000(1) + 1,000 = 76,000 (식 5.46)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A가 틀린 이유: 회귀식에 EX=6을 그대로 넣은 값(식 5.33). 교육이 경력을 줄이는 경로를 무시했다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경력 6 그대로, 교육 효과 5,000만 더한 것 (U_s까지 더한 계산)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근거 없는 값. U_s=1,000을 빼먹으면 75,000이 된다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(오개념 교정)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다음 중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틀린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설명은?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E={}이면 C(E,C,Y)는 L2의 do형 양이다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C={}이면 C(E,C,Y)는 L1의 사실적 양이다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무작위 실험으로 TE&gt;0을 확인하면, 스스로 선택한 집단의 ETT도 양수임이 보장된다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반사실 양에서는 한 식 안의 변수들이 서로 다른 세계에 있을 수 있다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Q3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C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(틀린 설명)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틀렸나: TE와 ETT는 유닛 선택이 다르다. 예 5.3 모델을 직접 계산하면 TE=+0.05인데 자원자의 ETT 대비는 0이다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A, B: 맞다 (5.2절의 양 극단)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D: 맞다. 분자 P(Y_{X=0}, X=1)에서 Y는 do 세계, X는 자연 세계에 산다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