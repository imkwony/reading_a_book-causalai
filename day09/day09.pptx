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9 — 템플릿 기반 식별의 완성: 프론트도어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154–165쪽 (인쇄 142–153) · 4.2.3 ~ 4.2.6.1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교란 변수를 관측하지 못해도 개입 효과 P(y∣do(x))를 관측 자료로 계산할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백도어는 교란을 막는 조정,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프론트도어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X와 Y 사이의 '중간 다리' Z를 이용한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두 번의 백도어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다. 그래프를 못 그려도 순서 가정만으로 조정 집합을 찾는 길도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허용 집합을 만들고 나열하는 방법, LTF·EM 트릭, 프론트도어 식(4.89)의 유도와 한계를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8에서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개입 효과의 식별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관측 분포 P(V)와 그래프로 P(y∣do(x))를 계산할 수 있는가 (Def 4.2.1)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 기준과 조정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교란을 모두 막는 집합 Z를 찾아 Σ P(y∣x,z)P(z) (Def 4.2.2, Thm 4.2.3)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조정 백도어 기준(A-BDC)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고유 인과 경로까지 다루는 완전한 형태 (Def 4.2.4)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교란이 관측되지 않아도 효과를 식별하게 해 주는 구조는?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백도어만으로는 모자란다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백도어의 전제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X와 Y를 동시에 움직이는 요인(교란)을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충분히 측정했을 때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만 쓸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현실의 문제 세 가지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허용 조정 집합이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있는지, 어떤 것들이 있는지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효율적으로 알고 싶다 (측정 비용·분산·프라이버시 때문)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그래프 전체를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그릴 수 없는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경우가 많다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교란(U)이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정말로 관측 불가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이면 백도어는 막힌다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답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허용 집합 알고리즘 → 순서 가정만 쓰는 백도어 → 프론트도어와 그 일반화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허용 집합 (admissible 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조정에 써도 되는 변수 묶음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백도어 기준을 만족하는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금지 노드 F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조정에 넣으면 안 되는 변수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인과 경로 위 변수의 후손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다항 지연 (polynomial delay)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결과 하나를 낼 때마다 걸리는 시간이 다항식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ListSeps 알고리즘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LTF 곱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외생변수 U까지 풀어 쓴 개입 분포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식 4.51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EM 트릭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독립된 외생 잡음을 합산해 지우는 규칙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식 4.64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프론트도어 (front-door)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X→Z→Y의 매개 Z로 효과를 계산하는 기준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Def 4.2.5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허용 집합 하나 만들기, 전부 나열하기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Lemma 4.2.8–4.2.9, 알고리즘 2(ListSeps), Thm 4.2.10 (4.2.3절)</a:t>
            </a:r>
          </a:p>
        </p:txBody>
      </p:sp>
      <p:pic>
        <p:nvPicPr>
          <p:cNvPr id="5" name="Picture 4" descr="d9_a_lists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130" y="1737360"/>
            <a:ext cx="586343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여행 가방 싸기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물건마다 "넣는다/뺀다"를 정하며 가방을 싸는데, 어느 단계에서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이미 불가능한 조합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이면 그 아래는 더 보지 않고 접는다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물건 = 후보 변수 W · 넣는다 = I에 포함 · 뺀다 = R에서 제외 · 접기 = ExistsSep이 실패해 가지치기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매 단계에서 '아직 가능한가'를 먼저 확인하므로, 막다른 길을 헤매지 않고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출력 간격이 짧게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유지된다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실제 조건은 취향이 아니라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분리(separation) 검사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이며, 가능 여부를 정하는 근거가 Lemma 4.2.9(조상 집합 구성)다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그래프 없이 순서만으로: 데이터 기반 백도어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충실성과 조건부 독립 검정을 쓰는 Thm 4.2.11 (4.2.4절)</a:t>
            </a:r>
          </a:p>
        </p:txBody>
      </p:sp>
      <p:pic>
        <p:nvPicPr>
          <p:cNvPr id="5" name="Picture 4" descr="d9_b_data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64" y="1737360"/>
            <a:ext cx="786336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LTF 곱과 EM 트릭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LTF 곱 (Thm 4.2.12)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외생변수 U를 포함해 P(v∣do(x))를 U 위에서 합산한 식으로 쓴 것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마르코프 모델에서는 곧바로 식별되지만, 비마르코프 모델에서는 U가 식에 남는다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EM 트릭 (Lemma 4.2.13)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U가 V 하나에만 영향을 주면 합산해서 P(v∣pa)로 바꿀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무엇을 보이나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Z가 관측된 백도어 그래프는 U가 모두 지워져 Σ P(y∣x,z)P(z)가 된다 (식 4.65)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U가 X·Y에 모두 영향을 주면 U가 남는다 (식 4.72)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U를 지울 수 있는가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세 그래프를 LTF로 풀어 본 결과 (식 4.53–4.88)</a:t>
            </a:r>
          </a:p>
        </p:txBody>
      </p:sp>
      <p:pic>
        <p:nvPicPr>
          <p:cNvPr id="5" name="Picture 4" descr="d9_c_l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530" y="1737360"/>
            <a:ext cx="745863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비유로 이해하기: 학원, 공부 시간, 성적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학원 등록(X)이 성적(Y)에 주는 효과. 숨은 '학습 동기'(U)가 등록과 성적에 모두 영향을 주지만 측정할 수 없다. 학원은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공부 시간(Z)을 통해서만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성적에 작용한다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등록→공부 시간 효과는 동기와 무관하게 잴 수 있고(조건 ii), 공부 시간→성적 효과는 '등록 여부'로 나눠서 비교하면 동기가 걸러진다(조건 iii)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두 조각을 곱해 이으면 동기를 몰라도 전체 효과가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학원이 공부 시간 말고 다른 경로(친구, 동기부여)로도 성적에 영향을 주면 조건 (i)이 깨져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식이 성립하지 않는다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프론트도어 기준과 조정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Definition 4.2.5 · Theorem 4.2.14 (4.2.6절)</a:t>
            </a:r>
          </a:p>
        </p:txBody>
      </p:sp>
      <p:pic>
        <p:nvPicPr>
          <p:cNvPr id="5" name="Picture 4" descr="d9_d_front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702" y="1737360"/>
            <a:ext cx="796629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(1) — 식 4.89를 말로 읽기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3adb906937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20943"/>
            <a:ext cx="7772400" cy="9643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P(z∣x)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X를 x로 바꿨을 때 Z가 z가 될 확률. X→Z는 교란이 없어 관측 조건부로 충분하다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Σ over x′ of P(y∣x′,z)P(x′)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Z를 z로 고정했을 때의 Y. X를 모든 값 x′로 평균 내어 교란을 제거한다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Σ over z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효과가 Z를 거쳐 가므로 두 조각을 곱해 Z의 모든 값에 대해 합한다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책의 요점: 백도어를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두 번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쓴 것 (조정 집합 ∅, 그다음 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(2) — 숫자로 확인해 보기 (책 외 장난감 예)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860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0292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양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값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P(x=0), P(x=1)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0.5, 0.5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P(Z=1∣x=0), P(Z=1∣x=1)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0.1, 0.9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P(Y=1∣x,z), (x,z)=(0,0),(0,1),(1,0),(1,1)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0.18, 0.58, 0.42, 0.82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안쪽 합, z=0 / z=1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0.5·0.18+0.5·0.42=0.30 / 0.5·0.58+0.5·0.82=0.70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식 4.89, do(x=1) / do(x=0)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0.1·0.30+0.9·0.70=</a:t>
                      </a:r>
                      <a:r>
                        <a:rPr sz="1200" b="1">
                          <a:solidFill>
                            <a:srgbClr val="8A1538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0.66</a:t>
                      </a:r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 / 0.9·0.30+0.1·0.70=</a:t>
                      </a:r>
                      <a:r>
                        <a:rPr sz="1200" b="1">
                          <a:solidFill>
                            <a:srgbClr val="8A1538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숨은 U를 가진 이진 SCM에서 직접 계산. 단순 비교 P(Y=1∣x=1)−P(Y=1∣x=0)=0.78−0.22=0.56은 과대, 참 효과 차이는 0.32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일반화 프론트도어와 템플릿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Definition 4.2.6 · Theorem 4.2.15 · 식 4.90–4.91 (4.2.6.1절, 식은 PDF 166쪽)</a:t>
            </a:r>
          </a:p>
        </p:txBody>
      </p:sp>
      <p:pic>
        <p:nvPicPr>
          <p:cNvPr id="5" name="Picture 4" descr="d9_e_gf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945" y="1737360"/>
            <a:ext cx="710180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템플릿 방식의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템플릿 = 케이스별 도구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백도어, 프론트도어, 일반화 프론트도어는 각각 그래프 모양이 맞아야 쓸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책이 남긴 질문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어떤 템플릿에도 안 맞는 그래프는 식별 불가인가? 아니면 우리가 도구를 못 찾은 것인가?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필요한 것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모든 경우를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체계적으로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다루는 규칙. 그것이 다음 날의 do-calculus(4.3절)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알아둘 점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프론트도어도 U 사이의 독립 구조를 그래프가 알려 줘야 쓸 수 있다. 가정이 틀리면 식도 틀린다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"교란이 관측되지 않으면 효과는 절대 식별할 수 없다"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프론트도어처럼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매개 변수와 독립 구조</a:t>
            </a: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있으면 U를 몰라도 식별된다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"프론트도어는 Z를 조정하는 것이다" → ✅ Z로 직접 조정하는 게 아니라, X→Z와 Z→Y 효과를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각각 구해 이어 붙인다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"식 4.89의 x와 x′는 같은 값이다" → ✅ x는 개입 값, x′는 합산 인덱스다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"공변량은 많이 넣을수록 좋다" → ✅ 데이터 기반 백도어는 먼저 일어난 변수(W)만 후보로 삼는다. 잘못 넣으면 백도어를 오히려 연다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허용 집합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Z₀ = An(X∪Y)∖F로 존재 여부를 판정하고, ListSeps로 다항 지연 나열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데이터 기반 백도어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순서 가정 + 조건부 독립 검정으로 허용 집합과 '효과 없음'을 판정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프론트도어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매개 Z를 통해 U 없이 P(y∣do(x)) = Σ P(z∣x) Σ P(y∣x′,z)P(x′)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10): 템플릿은 케이스별 도구 → 모든 경우를 포괄하는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do-calculus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Lemma 4.2.8의 용도로 옳은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백도어 허용 집합이 존재하는지 Z₀ 하나만 검사해 판정한다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허용 집합 중 가장 작은 것을 항상 찾는다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허용 집합을 제거해 인과 효과를 0으로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프론트도어 식을 유도한다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허용 집합이 하나라도 있으면 Z₀ = An(X∪Y)∖F도 허용 집합이므로, Z₀가 아니면 없다는 대우가 성립한다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최소 집합을 찾는 것이 아니라 존재 판정이다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조정 집합은 효과를 바꾸지 않고 계산하는 도구다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프론트도어는 별도의 기준(Def 4.2.5)이다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X→Z→Y 구조에서 U가 X와 Y에 모두 영향을 주고 U는 관측되지 않는다. Z는 관측된다. 효과를 구하는 식은?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Σ_z P(y∣x,z)P(z)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Σ_z P(z∣x) Σ_x′ P(y∣x′,z)P(x′)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P(y∣x)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식별할 수 없다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Z가 X→Y의 모든 인과 경로를 가로채고, X→Z와 Z→Y에 열린 백도어가 없거나 X로 막히므로 프론트도어 조건을 만족한다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U가 관측되지 않아 X와 Y 사이의 백도어를 Z로는 막지 못한다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교란을 포함한 단순 조건부 확률이다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프론트도어 덕분에 식별된다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데이터 기반 백도어(Thm 4.2.11)에 대한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인과 그래프 전체가 없어도 변수 간 시간 순서를 알면 쓸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충실성과 신뢰할 만한 조건부 독립 검정을 가정한다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규칙 2는 효과가 없음을 판정할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규칙 1은 모든 허용 집합을 빠짐없이 찾아 준다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D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책은 가정이 약한 만큼 결론도 약하다고 말한다. 예를 들어 Z가 허용 집합인 경우(그림 4.20(a))에도 규칙 1로 발견되지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B: 맞다. 이 접근의 전제 조건이다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C: 맞다. 규칙 2는 P(y∣do(x)) = P(y)를 판정한다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