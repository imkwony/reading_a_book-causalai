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3 — 구조적 인과 모델(SCM)과 인과 사다리의 세 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55–65쪽 (인쇄 43–53) · 2장 도입, 2.1 SCM, 2.2 PCH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같은 세계에서 '보기·하기·상상하기'가 왜 서로 다른 질문이 되는가?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세계를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SCM = ⟨U, V, F, P(U)⟩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로 적으면, 메커니즘 F를 그대로 돌리면 L1, 일부를 상수로 바꿔 돌리면 L2, 여러 세계를 동시에 돌리면 L3 분포가 나온다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SCM의 네 부품을 설명하고, 한 표(예 2.2)에서 L1·L2·L3 확률을 직접 계산할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2에서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에이전트가 사는 환경은 보이지 않는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참 모델 M∗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인과 추론 엔진은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질문 · 데이터 · 가정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을 받아 '계산 가능한가'를 따진다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오늘은 그 M∗의 정체인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SCM을 수학적으로 정의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한다 (2.1절)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같은 SCM에서 세 종류의 질문은 어떻게 갈라지는가?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말로는 같은 '효과'인데 답이 다르다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병원 기록에서 약을 먹은 환자의 생존율이 높다 → "약이 효과 있다"?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모두에게 약을 억지로 먹이면 생존율은 오히려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떨어질 수 있다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(예 2.5)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이미 사망한 환자에게 "그때 약을 줬다면?"을 묻는 질문도 있다 (예 2.6)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 질문을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하나의 모델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에서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정확히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구분해 계산할 도구가 필요하다 → SCM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SCM이 기존의 인과 접근 대부분을 포괄하는 형식이라고 설명한다 (p.56)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8600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외생 변수 U (exogenous)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모델 밖에서 정해지는 배경 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환자의 타고난 저항력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내생 변수 V (endogenous)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모델 안의 다른 변수들로 정해지는 변수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치료 X, 생존 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메커니즘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변수를 부모와 U로 계산하는 함수 모음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y ← f(x, 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서브모델 M_x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X의 메커니즘을 상수 x로 교체한 모델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모두에게 약 투여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잠재결과 Y_x(u)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개체 u에게 개입 x를 했을 때의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이 환자가 약을 먹었다면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SCM의 네 부품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Definition 2.1.1 (p.56): U, V, F, P(U)</a:t>
            </a:r>
          </a:p>
        </p:txBody>
      </p:sp>
      <p:pic>
        <p:nvPicPr>
          <p:cNvPr id="5" name="Picture 4" descr="d3_a_s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110" y="1737360"/>
            <a:ext cx="969147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보드게임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규칙집(F)은 고정, 주사위(U)가 매번 달라서 말의 위치(V)가 달라진다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규칙집 = F · 주사위 눈 = U · 주사위의 확률 = P(U) · 보드 위 말의 위치 = V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같은 규칙집이라도 주사위가 다르면 결과가 다르다. 규칙을 한 줄 바꾸는 것이 곧 '개입'이다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실제 환경에서 U는 보이지 않고 F도 모른다. 책은 이를 모르는 채 추론하는 법을 다룬다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가장 작은 예: 주사위 SCM (예 2.1)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두 주사위 U1, U2를 굴리고,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합 X와 차 Y만</a:t>
            </a: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관측한다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메커니즘: X ← U1 + U2, Y ← U1 − U2, 각 눈의 확률은 1/6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이것이 완전히 명시된 SCM M1이다 (p.57)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q_b9856a0719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586372"/>
            <a:ext cx="7772400" cy="691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관측되는 쪽은 V = {X, Y}, 보이지 않는 쪽은 U = {U1, U2}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앞으로 L1·L2 예에서 계속 쓰인다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의학 SCM (예 2.2)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변수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X 치료(약), Y 생존, Z 증상(고혈압), 외생 U_r(저항력), U_x, U_y, U_z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메커니즘의 이야기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저항력(U_r=1)이 있으면 치료와 무관하게 생존하기 쉽다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증상(Z=1)이 있으면 의사가 약(X=1)을 처방한다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약은 저항력 있는 환자에게 도움이 되고, 없는 환자에게는 해롭다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확률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P(U_r=1)=0.25, P(U_z=1)=0.95, P(U_x=1)=0.9, P(U_y=1)=0.7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외생 상태 16가지(표 2.2)가 모든 계산의 재료다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Layer 1: 보기 (Definition 2.2.1)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절차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① 개체 u마다 Nature가 F를 순서대로 평가한다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② 사건 Y=y와 맞는 u의 확률 P(u)를 모두 더한다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주사위 예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U=(1,1)일 때 X=2, Y=0이고 이는 그 조합뿐이므로 P(X=2, Y=0) = 1/36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P(Y=0)=1/6인데 X=2를 알면 P(Y=0∣X=2)=1이다. 합이 2이면 차는 반드시 0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의학 예 (예 2.3)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P(Y=1∣X=1) = 0.215 / 0.29 = 0.7414, P(Y=1∣X=0) = 0.3197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한 표에서 세 층이 나온다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2.2의 16개 외생 상태와 L1·L2·L3 계산 (표 2.2 + 잠재결과 열)</a:t>
            </a:r>
          </a:p>
        </p:txBody>
      </p:sp>
      <p:pic>
        <p:nvPicPr>
          <p:cNvPr id="5" name="Picture 4" descr="d3_b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54" y="1737360"/>
            <a:ext cx="746778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개입은 '메커니즘 교체' (Definition 2.2.2–2.2.3)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서브모델 M_x와 잠재결과 Y_x(u) (p.60)</a:t>
            </a:r>
          </a:p>
        </p:txBody>
      </p:sp>
      <p:pic>
        <p:nvPicPr>
          <p:cNvPr id="5" name="Picture 4" descr="d3_c_sub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903" y="1737360"/>
            <a:ext cx="829188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Layer 2: 하기 (Definition 2.2.4–2.2.5)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절차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① X의 규칙을 상수로 교체 → ② 각 u마다 F_x 평가 → ③ Y_x=y와 맞는 P(u)를 더하기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표기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P(Y_x) 를 P(Y∣do(x)) 로 쓴다. do(x)는 조건부 식 전체에 적용된다 (식 2.9)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Effectiveness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do(x)를 하면 X=x일 확률이 1이다. 자연스러운 변동의 출처와 끊어졌기 때문이다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2.4 (속이는 관찰자)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합을 2라고 허위 보고해도 차는 안 바뀐다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P(Y=0∣do(X=2)) = P(Y=0) = 1/6 이고, 관측 P(Y=0∣X=2)=1과 다르다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X는 Y에 인과 효과가 없다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보기와 하기의 반전 (예 2.5)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모두에게 약을 투여하면 (X ← 1) 어떻게 되는가</a:t>
            </a:r>
          </a:p>
        </p:txBody>
      </p:sp>
      <p:pic>
        <p:nvPicPr>
          <p:cNvPr id="5" name="Picture 4" descr="d3_d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86" y="1737360"/>
            <a:ext cx="996112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Layer 3: 상상하기 (Definition 2.2.6)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새로운 점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서로 다른 아래첨자(다른 세계)가 한 식에 함께 들어간다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절차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세계마다 해당 메커니즘을 교체 → 각 세계에서 같은 u를 평가 → 조건에 맞는 P(u)를 더하기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2.6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약 없이 사망한 환자가 약을 받았다면 살았을까?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P(Y_{X=1}=1 ∣ X=0, Y=0) = 0.0105 / 0.483 ≈ 0.0217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약을 줬어도 약 2%만 살았을 것이다. 약은 그 죽음을 막지 못했다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분모는 L1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분자는 두 세계를 동시에 보는 L3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이므로 실험으로 직접 얻을 수 없다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세 층 한눈에 (Figure 2.6)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같은 P(U)에서 출발해 다른 변환을 적용한다</a:t>
            </a:r>
          </a:p>
        </p:txBody>
      </p:sp>
      <p:pic>
        <p:nvPicPr>
          <p:cNvPr id="5" name="Picture 4" descr="d3_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390" y="1737360"/>
            <a:ext cx="905691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L3의 여러 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필요 확률 PN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P(y′_{x′} ∣ x, y) — 노출·질병이 실제 일어났을 때, 노출이 없었다면 질병이 없었을 확률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충분 확률 PS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P(y_x ∣ x′, y′) — 노출되지 않은 건강한 사람이 노출됐다면 질병에 걸렸을 확률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PNS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P(y_x, y′_{x′}) — 필요하면서 충분할 확률, '왜'라는 질문의 핵심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중첩 반사실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Y_{x, M_{x′}} 로 간접 효과를 정의 (5장에서 자세히)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용도: 책임 소재, 공정성 분석, 설명 (p.65)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(1) — L1: 관측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0ff5821e3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146" y="1600200"/>
            <a:ext cx="5467227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P(y)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변수 Y가 y일 확률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Y(u)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외생 상태 u에서 F를 평가한 Y의 값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1(·)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괄호 안이 참이면 1, 아니면 0 (지시 함수)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합 ∑_u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모든 외생 상태에 대해 더한다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말로: "Y=y가 되는 u들의 확률을 전부 모은 것"이다 (식 2.4)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(2) — L2: 개입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f152d10ec2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060" y="1600200"/>
            <a:ext cx="586740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L1 식에서 Y(u)를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서브모델의 Y_x(u)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로 바꿨을 뿐이다 (식 2.8)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P(y_x)를 P(y∣do(x))로 쓴다. 조건이 있으면 do(x)가 식 전체에 적용된다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평균 인과 효과: E(Y_{X=1}) − E(Y_{X=0})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예 2.5: u 중 U_r=1인 경우만 Y_{X=1}=1이므로 P(Y=1∣do(X=1)) = P(U_r=1) = 0.25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(3) — L3: 반사실 확률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0a6f0ab18b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80514"/>
            <a:ext cx="7772400" cy="445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분자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실제로는 X=0, Y=0이면서 X=1 세계에서는 Y=1인 u의 확률 (표의 11, 13행)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분모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실제로 X=0, Y=0인 u의 확률 (4, 8, 11, 13행)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일반식 (식 2.18): 한 u에 대해 여러 세계의 결과를 함께 평가하고 조건을 모두 만족하면 P(u)를 더한다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값은 0.0105 / 0.483 ≈ 0.0217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"U는 그냥 잡음(노이즈)이다"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U는 개체(환자, 학생 …)와 모집단의 변동을 담는다. 반사실은 같은 u를 여러 세계에서 평가하는 것이다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"P(Y∣X)와 P(Y∣do(X))는 같은 값이다" → ✅ 예 2.5에서 부호가 반대다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"반사실은 실험으로 확인하면 된다" → ✅ 한 개체가 두 세계를 동시에 살 수 없다. L2 자료로도 부족하다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"SCM이 있어야만 L1을 알 수 있다" → ✅ SCM이 주어지면 세 층이 모두 정의되지만, 에이전트는 보통 SCM을 모른다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SCM = ⟨U, V, F, P(U)⟩. 외생 U와 메커니즘 F가 관측 V를 만든다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L1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F를 그대로 평가,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L2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메커니즘을 상수로 교체(do),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L3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여러 세계를 동시에 평가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보기와 하기는 다른 답을 낼 수 있다. 반사실은 어느 실험으로도 직접 얻을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4): 이 세 층이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서로 환원되지 않는다는 정리(CHT)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를 읽는다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SCM에서 개입 do(X=x)를 모델링하는 방법은?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데이터에서 X=x인 행만 고른다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X의 메커니즘을 상수 x로 교체한 서브모델을 만든다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P(U)를 X=x에 맞게 바꾼다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다른 변수의 메커니즘을 모두 없앤다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정의 2.2.2는 X의 원래 메커니즘을 X ← x로 대체해 F_x를 만든다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그건 조건화(L1)이고 개입이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개입은 P(U)를 바꾸지 않는다. 메커니즘만 바꾼다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다른 변수의 메커니즘은 그대로다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주사위 SCM(X=U1+U2, Y=U1−U2)에서 옳은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P(Y=0∣X=2)=1이고 P(Y=0∣do(X=2))=1/6이다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두 값이 모두 1이다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두 값이 모두 1/6이다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P(Y=0∣do(X=2))=1이다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합이 2라는 관측은 (1,1)을 뜻하므로 차는 0이다. 하지만 합을 바꿔 보고해도 주사위는 안 바뀐다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B, C가 틀린 이유: 관측과 개입 값이 다르다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개입은 U와 Y의 메커니즘을 건드리지 않는다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예 2.5에서 P(Y=1∣X=1) &gt; P(Y=1∣X=0)인데도 약이 해롭다고 결론 내린 이유는?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계산 실수가 있었다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의사가 증상이 있는 환자에게 약을 처방해 L1 비교가 왜곡됐고, do로 계산하면 효과가 음수다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L2의 값은 항상 L1보다 작다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약의 효과는 정의할 수 없다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약을 먹은 집단에 저항력 있는 환자가 몰려 있다. 모두에게 투여(do)하면 0.25 − 0.40 = −0.15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책의 계산 그대로이며 L1과 L2는 다른 양이다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값의 크기 관계는 일반 법칙이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평균 인과 효과 E(Y_{X=1}) − E(Y_{X=0})로 정의된다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