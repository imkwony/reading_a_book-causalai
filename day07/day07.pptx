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515600" cy="18288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4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Day 7 — 인과적 이해란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515600" cy="13716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책</a:t>
            </a:r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: Causal Artificial Intelligence · </a:t>
            </a: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범위</a:t>
            </a:r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: PDF 123–138쪽 (인쇄 111–126) · 3장 3.1–3.2절 · </a:t>
            </a: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수준</a:t>
            </a:r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: 입문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한눈에 보기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 범위가 푸는 문제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SCM M∗를 통째로 알 수 없는데, 어떤 의미에서 세계를 '이해했다'고 말할 수 있는가?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결론 한 줄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이해는 정도의 문제다.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인과 다이어그램 G와 자료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로 PCH의 양(TV, TE, ETT, PN/PS…)을 얼마나 계산할 수 있는지가 이해의 깊이이고, 모든 양은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'누가 뽑혔나'와 '어떤 메커니즘을 거쳤나'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두 축으로 비교된다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읽고 나면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사실–반사실 대비(Def 3.2.1)를 쪼개고, 인과 이해 평면(CUP)에서 L1·L2·L3 양의 위치를 설명할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Part I에서 이어받은 것 · 왜 '이해'를 정의해야 하나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이어받은 도구 (Day 3–6)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SCM과 PCH, 인과 다이어그램, d-분리(자료로 모델을 검증하는 도구)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문제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물리학은 M∗를 거의 다 적어 우주선 궤도까지 계산하지만, 경제·보건·AI 분야에서는 불가능하다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그렇다고 L1 자료만 보면 CHT(2.3절)에 따라 개입·반사실을 말할 수 없다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오늘의 질문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약한 가정(G)과 자료만으로 '이해했다'를 어떻게 정의하고 비교하는가? (3장 도입, 3.1절 · PDF 123–126쪽)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용어 준비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057400"/>
          <a:ext cx="110642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96388"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용어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한 줄 뜻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예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</a:tr>
              <a:tr h="496388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이해 (understanding)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현상을 더 기본적인 부품으로 환원해 설명하고 새 상황을 예측함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단백질 합성을 단계별로 설명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질의 Q (query)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사람의 언어로 적은 알고 싶은 것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이 약이 효과가 있나?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96388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단위 u (unit)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모집단의 한 개체, 외생 변수 U의 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환자 한 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대비 (contrast)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두 사실·반사실 조건의 결과 확률 차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TV, TE, ETT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96388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구조적 기저 전개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대비를 단위별 차이와 단위 가중치의 합으로 쓰기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식 3.3, 3.4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92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CUP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양들을 모집단 축·메커니즘 축에 놓은 평면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그림 3.6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1 — 과학에서의 '이해'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좋은 설명의 요건 (3.1절, PDF 124–125쪽)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(a) 현상을 더 단순한 부품으로 환원하는 모델링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(b) 과거 관측·실험(L1, L2 자료)을 설명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(c) 자료에 없던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새 예측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을 낸다. 어려운 것은 (b)가 아니라 (c)다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M∗를 다 쓰는 이상형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F와 P(U)를 확정하면 L1·L2·L3 어느 양이든 시뮬레이션할 수 있다 (예: 뉴턴 법칙으로 달 탐사 궤도)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AI·사회과학의 사정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사람이 개입하고 시스템이 열려 있어 우연성을 결정적으로 모델링할 수 없다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그래서 M∗ 대신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G라는 약한 제약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(Ω_G)만 적고 (b)는 d-분리로, (c)는 G+자료로 얻는다 (PDF 126–127쪽)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1 — 도식: 이상형과 현실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과학적 발견(그림 3.1)과 SCM으로 옮긴 발견(그림 3.2)의 비교</a:t>
            </a:r>
          </a:p>
        </p:txBody>
      </p:sp>
      <p:pic>
        <p:nvPicPr>
          <p:cNvPr id="5" name="Picture 4" descr="d7_a_sci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095" y="1737360"/>
            <a:ext cx="6815505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1 — 비유로 이해하기: 요리 레시피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비유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정확한 레시피(g 단위의 양, 불 세기, 시간)를 아는 요리사 vs. "채소를 먼저 볶고 그다음 소스를 넣는다" 정도의 순서 메모만 가진 사람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대응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정확한 레시피 = M∗ · 순서 메모 = 인과 다이어그램 G · 완성된 요리 사진들 = 자료 D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핵심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순서 메모와 사진만으로도 "소스를 빼면 맛이 어떻게 변할까?" 같은 일부 질문은 답할 수 있다. 어느 질문이 되는지는 메모(가정)의 정보량에 달렸다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비유의 한계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책은 이를 정확히 따져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어떤 L2·L3 질의가 계산 가능한지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를 다루고, 약한 메모일수록 예측이 줄어 아예 없을 수도 있다고 한다 (PDF 128쪽)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2 — PCH의 양은 SCM에 얼마나 가까운가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각 층의 질문은 SCM의 서로 다른 부분적 모습이다 (3.2절, 그림 3.4)</a:t>
            </a:r>
          </a:p>
        </p:txBody>
      </p:sp>
      <p:pic>
        <p:nvPicPr>
          <p:cNvPr id="5" name="Picture 4" descr="d7_b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481" y="1737360"/>
            <a:ext cx="9334733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2 — 이해는 정도의 문제이고, 추론은 이해를 만드는 과정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인과 추론 = 이해 생성 (그림 3.3, PDF 127쪽)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입력: ① 자료(L1, 가끔 L2) + ② 모델(가정) → 출력: ③ 자료에 없던 L2·L3 질의의 답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Day 2의 인과 추론 엔진이 과학 발견 도식과 겹친다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비유: 지도의 축척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L1 = 광역 지도, L2 = 도시 지도, L3 = 골목 지도, SCM = 건물 설계도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비유의 한계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책은 "L3는 곧 개인 단위"라는 통념이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온전히 맞지 않는다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고 짚는다. 같은 모집단 전체에 대한 효과(DE, IE 등)도 L3일 수 있다 (PDF 137쪽)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상위 층은 더 가정·자료를 요구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설명력과 가정의 양은 맞바꿈 관계다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3 — 변이는 어디서 오는가: 두 단계 생성 과정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표집(누가 뽑히나) → 평가(어떤 메커니즘을 거치나) (그림 3.5, PDF 130–131쪽)</a:t>
            </a:r>
          </a:p>
        </p:txBody>
      </p:sp>
      <p:pic>
        <p:nvPicPr>
          <p:cNvPr id="5" name="Picture 4" descr="d7_c_gener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593" y="1737360"/>
            <a:ext cx="9138508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4 — 사실–반사실 대비 (정의 3.2.1)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정의 (PDF 131쪽, 식 3.1)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대비 C = P(y_C1 ∣ E1) − P(y_C0 ∣ E0)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E는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실제로 관찰된 조건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(사실), C는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결과가 어떻게 반응하는지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를 정하는 반사실 절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두 특수형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E0 = E1 이면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반사실 대비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개입 차이만 담음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C0 = C1 이면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사실 대비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관찰 집단 차이만 담음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보통은 둘 다 섞여 있다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같은 모집단을 비교하는지(E), 같은 메커니즘을 거치는지(C)를 따로 보게 해 준다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TV, TE, ETT가 모두 이 형식의 특수한 경우다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수식 풀이 (1) — 정리 3.2.1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대비의 분해(식 3.2)와 구조적 기저 전개(식 3.3, 3.4) (PDF 131–132쪽)</a:t>
            </a:r>
          </a:p>
        </p:txBody>
      </p:sp>
      <p:pic>
        <p:nvPicPr>
          <p:cNvPr id="5" name="Picture 4" descr="d7_d_contr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770" y="1737360"/>
            <a:ext cx="852415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수식 풀이 (2) — 장난감 숫자로 계산해 보기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51460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512064"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단위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자연스러운 X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y(x₀)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y(x₁)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관측된 y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</a:tr>
              <a:tr h="512064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u1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u2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1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1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1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12064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u3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u4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1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1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303520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3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단위 4명(각 확률 1/4)을 우리가 임의로 만든 예. 책의 예가 아니다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3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TV</a:t>
            </a:r>
            <a:r>
              <a:rPr sz="13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= P(y∣X=1) − P(y∣X=0) = 1 − 1 = </a:t>
            </a:r>
            <a:r>
              <a:rPr sz="13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0</a:t>
            </a:r>
            <a:r>
              <a:rPr sz="13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(L1: 차이 없어 보임)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3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TE</a:t>
            </a:r>
            <a:r>
              <a:rPr sz="13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= 평균[y(x₁)−y(x₀)] = (1+1+0−1)/4 = </a:t>
            </a:r>
            <a:r>
              <a:rPr sz="13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0.25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3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ETT</a:t>
            </a:r>
            <a:r>
              <a:rPr sz="13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(X=1인 u1, u2만) = (1+1)/2 = </a:t>
            </a:r>
            <a:r>
              <a:rPr sz="13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1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3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분해 확인</a:t>
            </a:r>
            <a:r>
              <a:rPr sz="13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TV = ETT + [P(y_x0∣X=1) − P(y_x0∣X=0)] = 1 + (0 − 1) = 0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1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앞은 인과적 변이, 뒤는 누가 x₁을 택했나의 허위 변이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5 — 이해의 정도: 층별 대비 표 (표 3.1)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057400"/>
          <a:ext cx="110642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496388"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층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양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C0→C1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E (사실)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읽는 법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</a:tr>
              <a:tr h="496388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L1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TV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x0 / x1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x를 자연스럽게 택한 두 집단의 비교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L2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TE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x0→x1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없음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모집단 전체의 개입 효과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96388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L2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z-TE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x0→x1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특성 z 집단에 한정한 효과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L3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x-TE (ETT)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x0→x1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x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실제 x를 택한 단위가 반대로 했다면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96388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L3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xz-TE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x0→x1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x, 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ETT를 z 집단으로 좁힘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92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L3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xy-TE (PN/PS)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x0→x1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x, y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선택과 결과까지 본 단위 (필요·충분 확률)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303520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3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행이 내려갈수록 같은 메커니즘 항 위에서 </a:t>
            </a:r>
            <a:r>
              <a:rPr sz="13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단위 선택(E)만 더 좁아진다</a:t>
            </a:r>
            <a:r>
              <a:rPr sz="13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(PDF 133–135쪽)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5 — 인과 이해 평면(CUP)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모집단 축 × 메커니즘 축 위에 양들을 배치 (그림 3.6, PDF 135–136쪽)</a:t>
            </a:r>
          </a:p>
        </p:txBody>
      </p:sp>
      <p:pic>
        <p:nvPicPr>
          <p:cNvPr id="5" name="Picture 4" descr="d7_e_c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719" y="1737360"/>
            <a:ext cx="9864256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흔한 오해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88920"/>
            <a:ext cx="11064240" cy="2011680"/>
          </a:xfrm>
          <a:prstGeom prst="rect">
            <a:avLst/>
          </a:prstGeom>
          <a:noFill/>
        </p:spPr>
        <p:txBody>
          <a:bodyPr wrap="square" anchor="ctr" lIns="457200" rIns="457200" tIns="274320" bIns="274320">
            <a:spAutoFit/>
          </a:bodyPr>
          <a:lstStyle/>
          <a:p>
            <a:pPr algn="l"/>
            <a:r>
              <a:rPr sz="2400" i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❌ "반사실은 개인 한 명에 대한 양이다"</a:t>
            </a:r>
          </a:p>
        </p:txBody>
      </p:sp>
      <p:sp>
        <p:nvSpPr>
          <p:cNvPr id="5" name="Rectangle 4"/>
          <p:cNvSpPr/>
          <p:nvPr/>
        </p:nvSpPr>
        <p:spPr>
          <a:xfrm>
            <a:off x="468640" y="2788920"/>
            <a:ext cx="60000" cy="201168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10642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✅ 반사실이 필요한 이유는 두 가지다: ① 모집단을 더 좁힌다(ETT) ② 메커니즘을 더 쪼갠다(직접·간접 효과). 후자는 모집단 전체에 대한 양이다 (PDF 137쪽)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❌ "TV가 0이면 인과 효과도 없다" → ✅ TV는 선택 효과와 인과 효과가 섞인 값이라, 위 장난감 예처럼 TV=0이어도 TE≠0일 수 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❌ "M∗를 학습해야 이해한 것이다" → ✅ 책은 G와 자료로 필요한 L2·L3 양을 얻는 것을 이해로 삼는다 (PDF 126쪽)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❌ "L1 양은 쓸모없다" → ✅ 수동적 예측에는 강력하지만, 능동적 의사결정에는 부적합하다 (PDF 137쪽)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이해의 정의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약한 가정 G와 자료로 PCH의 양을 얼마나 계산하느냐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모든 대비 = 반사실 변이 + 사실 변이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메커니즘의 차이와 모집단 선택의 차이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CUP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L1 → L2 → L3로 갈수록 단위 선택과 메커니즘 분해가 정교해진다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다음 날(Day 8): 이해를 구체화했으니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가장 기본 질문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, 관측 자료만으로 P(y∣do(x))를 계산할 수 있는가(식별과 백도어)로 들어간다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이해 점검 퀴즈 Q1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(개념 확인)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정의 3.2.1에서 E0 = E1 인 대비를 무엇이라 부르는가?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A) 사실 대비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B) 반사실 대비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C) 관측 대비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D) 구조적 대비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Q1 정답 및 해설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정답: B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왜 맞나: 같은 사실 조건 아래서 C0과 C1만 다르므로 차이는 개입(반사실) 조건에서 온다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A가 틀린 이유: 사실 대비는 C0 = C1 인 경우이며, 바뀌는 것은 E다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C, D가 틀린 이유: 정의 3.2.1에는 없는 용어이며 책이 쓰지 않는다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이해 점검 퀴즈 Q2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(적용)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어떤 정책에서 TV = P(y∣x₁) − P(y∣x₀) 가 0이다. 이 정보만으로 말할 수 있는 것은?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A) TE도 0이다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B) 인과 효과가 없다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C) 인과 효과와 선택 효과가 서로 상쇄했을 수 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D) 자료가 부족하다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Q2 정답 및 해설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정답: C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왜 맞나: TV는 반사실 변이와 사실 변이의 합이라 둘이 상쇄하면 0이 될 수 있다 (정리 3.2.1, 장난감 예에서 TE=0.25)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A, B가 틀린 이유: TV 하나로는 TE를 알 수 없다 (CHT의 정신)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D가 틀린 이유: 표본 크기의 문제가 아니라 L1 정보의 한계다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이해 점검 퀴즈 Q3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(오개념 교정)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인과 이해 평면에 대한 설명 중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틀린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것은?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A) 세로축은 모집단을 얼마나 좁히는지를 나타낸다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B) 가로축은 메커니즘(직접·간접·허위 변이)의 분해를 나타낸다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C) 직접·간접 효과 같은 L3 양은 반드시 한 개인에 대한 양이다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D) ETT는 모집단 축에서 TE보다 위에 놓인다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Q3 정답 및 해설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정답: C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(틀린 설명)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왜 틀렸나: 직접·간접 효과는 전체 모집단에 대한 양이지만 메커니즘을 쪼개기 위해 반사실이 필요하다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A, B: 맞다. 두 축의 정의 그대로다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D: 맞다. ETT는 X=x를 택한 단위로 좁힌 L3 양이다 (PDF 137쪽)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