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4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8 — 개입 효과를 데이터로 계산할 수 있는가: 식별과 백도어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515600" cy="13716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책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Causal Artificial Intelligence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범위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PDF 139–153쪽 (인쇄 127–141) · 4장 4.1–4.2.2절 · </a:t>
            </a:r>
            <a:r>
              <a:rPr sz="15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수준</a:t>
            </a:r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: 입문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 범위가 푸는 문제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실험 없이 관측 자료(L1)만으로 P(y∣do(x))(L2)를 구할 수 있는 조건은 무엇인가?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결론 한 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인과 다이어그램이 있으면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식별 가능성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따질 수 있다. 가장 기본 도구인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 기준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을 만족하는 Z가 있으면 P(y∣do(x)) = Σ_z P(y∣x,z)P(z)로 계산된다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읽고 나면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심슨 역설에서 어느 표를 볼지 그래프로 판단하고, 백도어 조건 두 개가 왜 필요한지 설명할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Day 7에서 이어받은 것 · 왜 필요한가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이어받은 것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Day 7: 이해는 정도의 문제이고, L2 양은 L1 자료와 가정 G로 얻는다. Day 3 do-연산, Day 5–6 그래프와 d-분리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왜 필요한가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무작위 실험은 비용·기술·윤리 때문에 어려운 경우가 많다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그런데 관측 자료만 보면 심슨 역설처럼 결론이 뒤집힌다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오늘의 질문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어떤 조건에서 관측 분포 P(v)로부터 개입 분포를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계산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할 수 있나? (4장 도입, 4.1절 · PDF 139–141쪽)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용어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0574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96388"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용어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한 줄 뜻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  <a:tc>
                  <a:txBody>
                    <a:bodyPr lIns="50000" rIns="50000" tIns="30000" bIns="30000"/>
                    <a:lstStyle/>
                    <a:p>
                      <a:pPr algn="ctr"/>
                      <a:r>
                        <a:rPr sz="1400">
                          <a:solidFill>
                            <a:srgbClr val="FFFFFF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예</a:t>
                      </a:r>
                    </a:p>
                  </a:txBody>
                  <a:tcPr>
                    <a:solidFill>
                      <a:srgbClr val="8A1538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개입 분포 (Def 4.1.1)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X의 방정식을 지우고 X=x를 넣은 모델의 분포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P(y∣do(x))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교란 편향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P(y∣x)와 P(y∣do(x))의 차이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약 복용과 성별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식별가능성 (Def 4.2.1)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그래프 + 관측 분포로 질의 값이 하나로 정해짐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백도어 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마르코프 모델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숨은 공통 원인이 없는 모델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스프링클러 예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496388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백도어 기준 (Def 4.2.2)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비인과 경로만 막는 조정 집합 Z의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Z = {Rain}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lIns="50000" rIns="50000" tIns="20000" bIns="20000"/>
                    <a:lstStyle/>
                    <a:p>
                      <a:pPr algn="l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G_X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X에서 나가는 화살표를 지운 그래프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 lIns="50000" rIns="50000" tIns="20000" bIns="20000"/>
                    <a:lstStyle/>
                    <a:p>
                      <a:pPr algn="ctr"/>
                      <a:r>
                        <a:rPr sz="1200">
                          <a:solidFill>
                            <a:srgbClr val="111111"/>
                          </a:solidFill>
                          <a:latin typeface="Freesentation"/>
                          <a:ea typeface="Freesentation"/>
                          <a:cs typeface="Freesentation"/>
                        </a:rPr>
                        <a:t>백도어 검사용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같은 표, 다른 답: 심슨의 역설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4.1과 4.2: 합친 표와 층별 표가 반대를 말한다 (PDF 140–142쪽)</a:t>
            </a:r>
          </a:p>
        </p:txBody>
      </p:sp>
      <p:pic>
        <p:nvPicPr>
          <p:cNvPr id="5" name="Picture 4" descr="d8_a_simp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8" y="1737360"/>
            <a:ext cx="857217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1 — 어느 표를 볼 것인가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4.1 (Z = 성별)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여성이 약을 더 자주 쓰고(76% vs 24%) 회복률은 낮다 → 성별이 공통 원인 →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층별 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예 4.2 (Z = 투약 후 혈압)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약의 핵심 작용은 혈압을 낮추는 것 → Z는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매개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→ 쪼개면 핵심 효과가 사라져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합친 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교훈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확률의 공리는 이런 숫자를 막지 않는다. 표본이 커도 안 풀린다. 그래프가 답을 정한다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읽을 때 주의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 본문은 예 4.1에서 약이 "유익해 보인다"고 쓰고 예 4.2에서 '음의 효과'라 쓰지만, 그림 4.2·4.3의 숫자는 둘이 같고 위 표와 같다. 문장보다 그림 숫자를 기준으로 읽는다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개입은 '회로 절단'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정의 4.1.1과 식 4.4–4.5: X의 메커니즘을 상수로 바꾼다 (PDF 142–144쪽)</a:t>
            </a:r>
          </a:p>
        </p:txBody>
      </p:sp>
      <p:pic>
        <p:nvPicPr>
          <p:cNvPr id="5" name="Picture 4" descr="d8_b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12" y="1737360"/>
            <a:ext cx="1031567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2 — 비유로 이해하기: 자동 온도조절기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방의 온도(X)를 자동 조절기(Z의 영향을 받는 규칙)가 정하는 집에서, 조절기를 떼고 손으로 온도를 고정하는 것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대응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조절기를 뗌 = X의 방정식 삭제 · 손으로 고정 = X=x · 고정 뒤 결과의 분포 = P(y∣do(x))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핵심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관찰만 하면 "더운 날 에어컨을 많이 켠 집"처럼 조절기의 규칙이 섞인 통계가 나온다. 떼어 내면 그 규칙(Z→X)만 사라지고 나머지는 그대로다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비유의 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책의 개입은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이상적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이다. 실제 개입이 다른 메커니즘까지 건드리는 경우는 이 정의에 담기지 않는다. 또 랜덤화 실험은 X를 새 외부 무작위성으로 정하는 방식이다 (PDF 143쪽)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스프링클러: 보기 vs 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예 4.3: P(We∣Sp=on) = p1 + p2, P(We∣do(Sp=on)) = p1 (PDF 144–145쪽)</a:t>
            </a:r>
          </a:p>
        </p:txBody>
      </p:sp>
      <p:pic>
        <p:nvPicPr>
          <p:cNvPr id="5" name="Picture 4" descr="d8_c_sprink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74" y="1737360"/>
            <a:ext cx="955454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3 — 마르코프 모델은 언제나 식별된다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절단 인수분해 (정리 4.1.1, 식 4.13)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P(v∣do(x)) = ∏_{i: Vi∉X} P(vi∣pa_i) (X=x 대입)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다시 쓰면 P(v) ÷ ∏_{X∈X} P(x∣pa_x) (식 4.14), 또는 P(v∣x,pa_x)P(pa_x) (식 4.15)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주변화 (정리 4.2.1)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마르코프 모델이면 모든 X, Y에 대해 P(y∣do(x))는 위 식에서 나머지를 합해 L1 분포만으로 얻어진다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부모로 조정 (정리 4.2.2)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P(y∣do(x)) = Σ_{pa_x} P(y∣x,pa_x)P(pa_x) (식 4.17)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한계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부모가 관측되지 않는 비마르코프(준마르코프) 모델에선 쓸 수 없다 → 백도어 (PDF 145–147쪽)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4 — 식별가능성 (정의 4.2.1)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그래프가 같고 관측이 같은 모든 모델이 같은 L2 답을 내는가 (PDF 146쪽)</a:t>
            </a:r>
          </a:p>
        </p:txBody>
      </p:sp>
      <p:pic>
        <p:nvPicPr>
          <p:cNvPr id="5" name="Picture 4" descr="d8_d_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779" y="1737360"/>
            <a:ext cx="963013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개념 5 — 백도어 기준과 조정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r>
              <a:rPr sz="1500">
                <a:solidFill>
                  <a:srgbClr val="555555"/>
                </a:solidFill>
                <a:latin typeface="Freesentation"/>
                <a:ea typeface="Freesentation"/>
                <a:cs typeface="Freesentation"/>
              </a:rPr>
              <a:t>정의 4.2.2, 정리 4.2.3 (PDF 148쪽)</a:t>
            </a:r>
          </a:p>
        </p:txBody>
      </p:sp>
      <p:pic>
        <p:nvPicPr>
          <p:cNvPr id="5" name="Picture 4" descr="d8_e_back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257" y="1737360"/>
            <a:ext cx="77531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백도어 조정 공식 읽기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말로 먼저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Z가 같은 사람끼리 X와 Y의 관계를 보고(P(y∣x,z)), 그 결과를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X와 상관없이 원래 Z 분포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(P(z))로 평균낸다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기호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P(y∣do(x)): 구하려는 L2 양 · P(y∣x,z): 자료에서 센 조건부 확률 · P(z): Z의 주변 분포 (x가 아니라 P(z)임에 주의)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스프링클러에 적용 (식 4.28)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Season이 숨겨져 있어도 Rain으로 조정: P(we∣do(sp)) = Σ_ra P(we∣sp,ra)P(ra)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Rain은 Sp의 후손이 아니고, 뒷문 경로 Sp←Se→Ra→We를 막는다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증명의 뼈대 (식 4.29–4.33)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부모 조정에서 시작해 Z를 끼워 넣고, 조건 (i)(ii)로 독립을 쓰면 P(z)만 남는다 (PDF 149쪽)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수식 풀이 — 왜 조건이 둘 다 필요한가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조건 (i) 후손 금지: W가 매개일 때 (그림 4.10)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W로 조정하면 X ⊥ Y ∣ W라 Σ_w P(y∣w)P(w) = P(y)가 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이는 do(x)에 값이 무관하다는 뜻이라 X→W→Y가 있는 한 말이 안 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W의 후손 Z도 안 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Σ_z P(y∣x,z)P(z)와 참값 사이엔 P(z) 대 P(z∣x)의 차이가 남아 일반적으로 ≠ (식 4.41)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조건 (ii) 막기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비인과 경로를 하나라도 열어 두면 교란 편향이 남는다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한 줄 정리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비인과 길은 모두 막고, 인과 길은 건드리지 않는다 (PDF 149–150쪽)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 집합 찾기 — G_X 검사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G_X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X에서 </a:t>
            </a:r>
            <a:r>
              <a:rPr sz="16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나가는</a:t>
            </a: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화살표를 모두 지운 그래프. 남은 X–Y 경로는 전부 비인과(백도어) 경로다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검사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G_X에서 X ⊥ Y ∣ Z (d-분리)이면 조건 (ii)가 성립한다. Day 6의 d-분리를 그대로 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그림 4.11(a) 예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{Z1, Z4}는 통과. {Z4}만으로는 경로 X←Z3←Z1→Z4←Z2→Z5→Y가 열려 있어 실패(Z4가 충돌 노드라 조건화하면 열림)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Pa(X)는 항상 기준을 만족한다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따름정리 4.2.4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공집합이 백도어 기준을 만족하면 P(y∣do(x)) = P(y∣x). 연관 = 인과 (PDF 150–151쪽)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백도어의 확장 — 조건부 효과, 그리고 A-BDC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조건부 효과 (정리 4.2.5)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Z∪W가 기준을 만족하면 P(y∣do(x),w) = Σ_z P(y∣x,z,w)P(z∣w)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예 4.4: 학교 유형(X)이 SAT(Y)에 미치는 효과를 학군 z1에서, 가계소득(Z2)으로 조정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고유 인과 경로 (정의 4.2.3)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X의 원소를 도중에 지나지 않는 인과 경로. X가 하나면 모든 인과 경로가 고유하다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조정 백도어 기준 (정의 4.2.4, 정리 4.2.6)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후손도 일부 허용: 고유 인과 경로 위 노드의 후손이 Z에 없고, 모든 비인과 경로가 Z로 막히면 된다</a:t>
            </a:r>
          </a:p>
          <a:p>
            <a:pPr lvl="1" marL="571500" indent="-285750">
              <a:spcAft>
                <a:spcPts val="300"/>
              </a:spcAft>
              <a:buFont typeface="Arial"/>
              <a:buChar char="–"/>
            </a:pPr>
            <a:r>
              <a:rPr sz="16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정리 4.2.6은 이것이 조정 공식이 성립할 필요충분조건이라고 말한다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X가 하나면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A-BDC 집합에서 후손을 빼도 백도어 기준을 만족한다 (따름정리 4.2.7) (PDF 151–153쪽)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흔한 오해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11064240" cy="2011680"/>
          </a:xfrm>
          <a:prstGeom prst="rect">
            <a:avLst/>
          </a:prstGeom>
          <a:noFill/>
        </p:spPr>
        <p:txBody>
          <a:bodyPr wrap="square" anchor="ctr" lIns="457200" rIns="457200" tIns="274320" bIns="274320">
            <a:spAutoFit/>
          </a:bodyPr>
          <a:lstStyle/>
          <a:p>
            <a:pPr algn="l"/>
            <a:r>
              <a:rPr sz="2400" i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❌ "더 많이 조정(통제)할수록 좋다"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40" y="2788920"/>
            <a:ext cx="60000" cy="201168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✅ 매개변수나 후손을 넣으면 인과 효과를 지우거나 왜곡한다 (예 4.2, 식 4.34–4.41)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"합친 표는 항상 틀렸고 층별 표가 항상 옳다" → ✅ 그래프에 따라 달라진다. Z가 공통 원인이면 층별, 매개이면 합친 표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"자료가 충분하면 식별이 된다" → ✅ 식별은 표본 크기가 아니라 그래프 구조의 성질이다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5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❌ "P(y∣x)와 P(y∣do(x))는 같다" → ✅ 비인과 경로가 막혀 있을 때만(공집합이 기준을 만족할 때) 같다 (따름정리 4.2.4)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개입 = X의 메커니즘 절단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P(y∣do(x))는 가상 세계의 분포이고 L1 자료만으론 알 수 없다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식별가능성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그래프 + P(v)로 값이 하나로 정해질 때. 마르코프 모델은 항상, 준마르코프는 경우에 따라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백도어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: (i) X의 후손 금지 (ii) 백도어 경로 차단 → P(y∣do(x)) = Σ_z P(y∣x,z)P(z)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다음 날(Day 9): 백도어는 교란을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모두 관측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할 때만 통한다. 관측되지 않는 교란까지 다루는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프론트도어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로 간다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(개념 확인)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백도어 기준의 두 조건으로 옳은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Z가 X의 후손이어야 하고 모든 경로를 막아야 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Z에 X의 후손이 없고, X로 들어오는 화살표가 있는 X–Y 경로를 모두 막는다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Z가 Y의 원인이면 충분하다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Z가 X와 독립이어야 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Q1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(i) 인과 경로를 건드리지 않기 위해 후손 금지, (ii) 비인과 경로만 차단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A가 틀린 이유: 후손이면 인과 경로를 막거나 새 경로를 연다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C가 틀린 이유: Y의 원인이라는 사실만으로 교란을 막지 못한다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교란이 있으면 Z는 X와 연관되어도 괜찮다. 필요한 것은 경로 차단이다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(적용)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X→W→Y, X←Z→Y 구조에서 P(y∣do(x))를 구하려 한다. 올바른 조정 집합은?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{W}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{Z}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{W, Z}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아무것도 조정하지 않는다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Q2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맞나: Z는 X의 후손이 아니며 X←Z→Y를 막는다. 공식은 Σ_z P(y∣x,z)P(z)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C가 틀린 이유: W는 매개(후손)라 인과 경로를 막는다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D가 틀린 이유: 비인과 경로 X←Z→Y가 열려 있어 P(y∣x)는 교란 편향을 포함한다 (따름정리 4.2.4의 조건 불충족)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이해 점검 퀴즈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(오개념 교정)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심슨 역설에 대한 설명 중 </a:t>
            </a: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틀린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것은?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A) 합친 표와 층별 표가 반대 방향을 가리킬 수 있다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B) 표본이 충분히 크면 이런 역전은 사라진다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C) 어느 표를 따를지는 인과 그래프가 정한다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D) Z가 매개변수라면 합친 표를 따른다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Q3 정답 및 해설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155680" cy="45000"/>
          </a:xfrm>
          <a:prstGeom prst="rect">
            <a:avLst/>
          </a:prstGeom>
          <a:solidFill>
            <a:srgbClr val="8A1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394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 b="1">
                <a:solidFill>
                  <a:srgbClr val="8A1538"/>
                </a:solidFill>
                <a:latin typeface="Freesentation"/>
                <a:ea typeface="Freesentation"/>
                <a:cs typeface="Freesentation"/>
              </a:rPr>
              <a:t>정답: B</a:t>
            </a: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 (틀린 설명)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왜 틀렸나: 책은 큰 표본에서도 역전이 일어나며 표본 변동과 무관하다고 말한다. 원인은 L1 정보의 한계다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A, C: 맞다. 예 4.1, 4.2의 교훈이다</a:t>
            </a:r>
          </a:p>
          <a:p>
            <a:pPr marL="285750" indent="-285750">
              <a:spcAft>
                <a:spcPts val="300"/>
              </a:spcAft>
              <a:buFont typeface="Arial"/>
              <a:buChar char="•"/>
            </a:pPr>
            <a:r>
              <a:rPr sz="1800">
                <a:solidFill>
                  <a:srgbClr val="111111"/>
                </a:solidFill>
                <a:latin typeface="Freesentation"/>
                <a:ea typeface="Freesentation"/>
                <a:cs typeface="Freesentation"/>
              </a:rPr>
              <a:t>D: 맞다. 예 4.2에서 혈압은 약이 작용하는 경로라 쪼개면 안 된다 (PDF 142쪽)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